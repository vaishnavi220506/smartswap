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No interference</c:v>
                </c:pt>
              </c:strCache>
            </c:strRef>
          </c:tx>
          <c:spPr>
            <a:solidFill>
              <a:srgbClr val="8A8984"/>
            </a:solidFill>
            <a:ln>
              <a:noFill/>
            </a:ln>
            <a:effectLst/>
          </c:spPr>
          <c:marker>
            <c:symbol val="circle"/>
            <c:size val="9"/>
            <c:spPr>
              <a:solidFill>
                <a:srgbClr val="8A8984"/>
              </a:solidFill>
              <a:ln w="9525" cap="flat">
                <a:solidFill>
                  <a:srgbClr val="8A8984"/>
                </a:solidFill>
                <a:prstDash val="solid"/>
                <a:round/>
              </a:ln>
              <a:effectLst/>
            </c:spPr>
          </c:marker>
          <c:xVal>
            <c:numRef>
              <c:f>Sheet1!$A$2:$A$51</c:f>
              <c:numCache>
                <c:formatCode>General</c:formatCode>
                <c:ptCount val="50"/>
                <c:pt idx="0">
                  <c:v>37.11</c:v>
                </c:pt>
                <c:pt idx="1">
                  <c:v>12.06</c:v>
                </c:pt>
                <c:pt idx="2">
                  <c:v>2.92</c:v>
                </c:pt>
                <c:pt idx="3">
                  <c:v>67.03</c:v>
                </c:pt>
                <c:pt idx="4">
                  <c:v>6.59</c:v>
                </c:pt>
                <c:pt idx="5">
                  <c:v>35.26</c:v>
                </c:pt>
                <c:pt idx="6">
                  <c:v>5.6</c:v>
                </c:pt>
                <c:pt idx="7">
                  <c:v>6.42</c:v>
                </c:pt>
                <c:pt idx="8">
                  <c:v>34.06</c:v>
                </c:pt>
                <c:pt idx="9">
                  <c:v>0.5</c:v>
                </c:pt>
                <c:pt idx="10">
                  <c:v>31.45</c:v>
                </c:pt>
                <c:pt idx="11">
                  <c:v>35.65</c:v>
                </c:pt>
                <c:pt idx="12">
                  <c:v>6.06</c:v>
                </c:pt>
                <c:pt idx="13">
                  <c:v>0.57</c:v>
                </c:pt>
                <c:pt idx="14">
                  <c:v>5.6</c:v>
                </c:pt>
                <c:pt idx="15">
                  <c:v>6.38</c:v>
                </c:pt>
                <c:pt idx="16">
                  <c:v>36.42</c:v>
                </c:pt>
                <c:pt idx="17">
                  <c:v>0.78</c:v>
                </c:pt>
                <c:pt idx="18">
                  <c:v>6.35</c:v>
                </c:pt>
                <c:pt idx="19">
                  <c:v>33.79</c:v>
                </c:pt>
                <c:pt idx="20">
                  <c:v>80.52</c:v>
                </c:pt>
                <c:pt idx="21">
                  <c:v>5.47</c:v>
                </c:pt>
                <c:pt idx="22">
                  <c:v>100</c:v>
                </c:pt>
                <c:pt idx="23">
                  <c:v>0.45</c:v>
                </c:pt>
                <c:pt idx="24">
                  <c:v>8.68</c:v>
                </c:pt>
                <c:pt idx="25">
                  <c:v>5.95</c:v>
                </c:pt>
                <c:pt idx="26">
                  <c:v>35.11</c:v>
                </c:pt>
                <c:pt idx="27">
                  <c:v>87.16</c:v>
                </c:pt>
                <c:pt idx="28">
                  <c:v>0.97</c:v>
                </c:pt>
                <c:pt idx="29">
                  <c:v>12.55</c:v>
                </c:pt>
                <c:pt idx="30">
                  <c:v>5.84</c:v>
                </c:pt>
                <c:pt idx="31">
                  <c:v>0.82</c:v>
                </c:pt>
                <c:pt idx="32">
                  <c:v>80.16</c:v>
                </c:pt>
                <c:pt idx="33">
                  <c:v>88.68</c:v>
                </c:pt>
                <c:pt idx="34">
                  <c:v>14.87</c:v>
                </c:pt>
                <c:pt idx="35">
                  <c:v>0.37</c:v>
                </c:pt>
                <c:pt idx="36">
                  <c:v>14.08</c:v>
                </c:pt>
                <c:pt idx="37">
                  <c:v>70.89</c:v>
                </c:pt>
                <c:pt idx="38">
                  <c:v>95.81</c:v>
                </c:pt>
                <c:pt idx="39">
                  <c:v>6.94</c:v>
                </c:pt>
                <c:pt idx="40">
                  <c:v>10.57</c:v>
                </c:pt>
                <c:pt idx="41">
                  <c:v>90.76</c:v>
                </c:pt>
                <c:pt idx="42">
                  <c:v>4.8</c:v>
                </c:pt>
                <c:pt idx="43">
                  <c:v>79.16</c:v>
                </c:pt>
                <c:pt idx="44">
                  <c:v>1.06</c:v>
                </c:pt>
                <c:pt idx="45">
                  <c:v>0.15</c:v>
                </c:pt>
                <c:pt idx="46">
                  <c:v>93.59</c:v>
                </c:pt>
                <c:pt idx="47">
                  <c:v>62.97</c:v>
                </c:pt>
                <c:pt idx="48">
                  <c:v>9.14</c:v>
                </c:pt>
                <c:pt idx="49">
                  <c:v>5.06</c:v>
                </c:pt>
              </c:numCache>
            </c:numRef>
          </c:xVal>
          <c:yVal>
            <c:numRef>
              <c:f>Sheet1!$B$2:$B$51</c:f>
              <c:numCache>
                <c:formatCode>General</c:formatCode>
                <c:ptCount val="50"/>
                <c:pt idx="0">
                  <c:v/>
                </c:pt>
                <c:pt idx="1">
                  <c:v/>
                </c:pt>
                <c:pt idx="2">
                  <c:v>6.038</c:v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>3.631</c:v>
                </c:pt>
                <c:pt idx="10">
                  <c:v/>
                </c:pt>
                <c:pt idx="11">
                  <c:v/>
                </c:pt>
                <c:pt idx="12">
                  <c:v/>
                </c:pt>
                <c:pt idx="13">
                  <c:v>3.563</c:v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>3.7</c:v>
                </c:pt>
                <c:pt idx="18">
                  <c:v/>
                </c:pt>
                <c:pt idx="19">
                  <c:v/>
                </c:pt>
                <c:pt idx="20">
                  <c:v/>
                </c:pt>
                <c:pt idx="21">
                  <c:v/>
                </c:pt>
                <c:pt idx="22">
                  <c:v/>
                </c:pt>
                <c:pt idx="23">
                  <c:v>2.97</c:v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>3.587</c:v>
                </c:pt>
                <c:pt idx="29">
                  <c:v/>
                </c:pt>
                <c:pt idx="30">
                  <c:v/>
                </c:pt>
                <c:pt idx="31">
                  <c:v>3.705</c:v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>2.527</c:v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/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>5.897</c:v>
                </c:pt>
                <c:pt idx="45">
                  <c:v>3.669</c:v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Storage</c:v>
                </c:pt>
              </c:strCache>
            </c:strRef>
          </c:tx>
          <c:spPr>
            <a:solidFill>
              <a:srgbClr val="1BAF7A"/>
            </a:solidFill>
            <a:ln>
              <a:noFill/>
            </a:ln>
            <a:effectLst/>
          </c:spPr>
          <c:marker>
            <c:symbol val="circle"/>
            <c:size val="9"/>
            <c:spPr>
              <a:solidFill>
                <a:srgbClr val="1BAF7A"/>
              </a:solidFill>
              <a:ln w="9525" cap="flat">
                <a:solidFill>
                  <a:srgbClr val="1BAF7A"/>
                </a:solidFill>
                <a:prstDash val="solid"/>
                <a:round/>
              </a:ln>
              <a:effectLst/>
            </c:spPr>
          </c:marker>
          <c:xVal>
            <c:numRef>
              <c:f>Sheet1!$A$2:$A$51</c:f>
              <c:numCache>
                <c:formatCode>General</c:formatCode>
                <c:ptCount val="50"/>
                <c:pt idx="0">
                  <c:v>37.11</c:v>
                </c:pt>
                <c:pt idx="1">
                  <c:v>12.06</c:v>
                </c:pt>
                <c:pt idx="2">
                  <c:v>2.92</c:v>
                </c:pt>
                <c:pt idx="3">
                  <c:v>67.03</c:v>
                </c:pt>
                <c:pt idx="4">
                  <c:v>6.59</c:v>
                </c:pt>
                <c:pt idx="5">
                  <c:v>35.26</c:v>
                </c:pt>
                <c:pt idx="6">
                  <c:v>5.6</c:v>
                </c:pt>
                <c:pt idx="7">
                  <c:v>6.42</c:v>
                </c:pt>
                <c:pt idx="8">
                  <c:v>34.06</c:v>
                </c:pt>
                <c:pt idx="9">
                  <c:v>0.5</c:v>
                </c:pt>
                <c:pt idx="10">
                  <c:v>31.45</c:v>
                </c:pt>
                <c:pt idx="11">
                  <c:v>35.65</c:v>
                </c:pt>
                <c:pt idx="12">
                  <c:v>6.06</c:v>
                </c:pt>
                <c:pt idx="13">
                  <c:v>0.57</c:v>
                </c:pt>
                <c:pt idx="14">
                  <c:v>5.6</c:v>
                </c:pt>
                <c:pt idx="15">
                  <c:v>6.38</c:v>
                </c:pt>
                <c:pt idx="16">
                  <c:v>36.42</c:v>
                </c:pt>
                <c:pt idx="17">
                  <c:v>0.78</c:v>
                </c:pt>
                <c:pt idx="18">
                  <c:v>6.35</c:v>
                </c:pt>
                <c:pt idx="19">
                  <c:v>33.79</c:v>
                </c:pt>
                <c:pt idx="20">
                  <c:v>80.52</c:v>
                </c:pt>
                <c:pt idx="21">
                  <c:v>5.47</c:v>
                </c:pt>
                <c:pt idx="22">
                  <c:v>100</c:v>
                </c:pt>
                <c:pt idx="23">
                  <c:v>0.45</c:v>
                </c:pt>
                <c:pt idx="24">
                  <c:v>8.68</c:v>
                </c:pt>
                <c:pt idx="25">
                  <c:v>5.95</c:v>
                </c:pt>
                <c:pt idx="26">
                  <c:v>35.11</c:v>
                </c:pt>
                <c:pt idx="27">
                  <c:v>87.16</c:v>
                </c:pt>
                <c:pt idx="28">
                  <c:v>0.97</c:v>
                </c:pt>
                <c:pt idx="29">
                  <c:v>12.55</c:v>
                </c:pt>
                <c:pt idx="30">
                  <c:v>5.84</c:v>
                </c:pt>
                <c:pt idx="31">
                  <c:v>0.82</c:v>
                </c:pt>
                <c:pt idx="32">
                  <c:v>80.16</c:v>
                </c:pt>
                <c:pt idx="33">
                  <c:v>88.68</c:v>
                </c:pt>
                <c:pt idx="34">
                  <c:v>14.87</c:v>
                </c:pt>
                <c:pt idx="35">
                  <c:v>0.37</c:v>
                </c:pt>
                <c:pt idx="36">
                  <c:v>14.08</c:v>
                </c:pt>
                <c:pt idx="37">
                  <c:v>70.89</c:v>
                </c:pt>
                <c:pt idx="38">
                  <c:v>95.81</c:v>
                </c:pt>
                <c:pt idx="39">
                  <c:v>6.94</c:v>
                </c:pt>
                <c:pt idx="40">
                  <c:v>10.57</c:v>
                </c:pt>
                <c:pt idx="41">
                  <c:v>90.76</c:v>
                </c:pt>
                <c:pt idx="42">
                  <c:v>4.8</c:v>
                </c:pt>
                <c:pt idx="43">
                  <c:v>79.16</c:v>
                </c:pt>
                <c:pt idx="44">
                  <c:v>1.06</c:v>
                </c:pt>
                <c:pt idx="45">
                  <c:v>0.15</c:v>
                </c:pt>
                <c:pt idx="46">
                  <c:v>93.59</c:v>
                </c:pt>
                <c:pt idx="47">
                  <c:v>62.97</c:v>
                </c:pt>
                <c:pt idx="48">
                  <c:v>9.14</c:v>
                </c:pt>
                <c:pt idx="49">
                  <c:v>5.06</c:v>
                </c:pt>
              </c:numCache>
            </c:numRef>
          </c:xVal>
          <c:yVal>
            <c:numRef>
              <c:f>Sheet1!$C$2:$C$51</c:f>
              <c:numCache>
                <c:formatCode>General</c:formatCode>
                <c:ptCount val="50"/>
                <c:pt idx="0">
                  <c:v/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>5.892</c:v>
                </c:pt>
                <c:pt idx="5">
                  <c:v/>
                </c:pt>
                <c:pt idx="6">
                  <c:v>5.181</c:v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/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>4.933</c:v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>5.435</c:v>
                </c:pt>
                <c:pt idx="19">
                  <c:v/>
                </c:pt>
                <c:pt idx="20">
                  <c:v/>
                </c:pt>
                <c:pt idx="21">
                  <c:v>5.215</c:v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>4.879</c:v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4.985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>6.362</c:v>
                </c:pt>
                <c:pt idx="40">
                  <c:v/>
                </c:pt>
                <c:pt idx="41">
                  <c:v/>
                </c:pt>
                <c:pt idx="42">
                  <c:v>6.04</c:v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>6.228</c:v>
                </c:pt>
              </c:numCache>
            </c:numRef>
          </c:y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Memory bandwidth</c:v>
                </c:pt>
              </c:strCache>
            </c:strRef>
          </c:tx>
          <c:spPr>
            <a:solidFill>
              <a:srgbClr val="EB6834"/>
            </a:solidFill>
            <a:ln>
              <a:noFill/>
            </a:ln>
            <a:effectLst/>
          </c:spPr>
          <c:marker>
            <c:symbol val="circle"/>
            <c:size val="9"/>
            <c:spPr>
              <a:solidFill>
                <a:srgbClr val="EB6834"/>
              </a:solidFill>
              <a:ln w="9525" cap="flat">
                <a:solidFill>
                  <a:srgbClr val="EB6834"/>
                </a:solidFill>
                <a:prstDash val="solid"/>
                <a:round/>
              </a:ln>
              <a:effectLst/>
            </c:spPr>
          </c:marker>
          <c:xVal>
            <c:numRef>
              <c:f>Sheet1!$A$2:$A$51</c:f>
              <c:numCache>
                <c:formatCode>General</c:formatCode>
                <c:ptCount val="50"/>
                <c:pt idx="0">
                  <c:v>37.11</c:v>
                </c:pt>
                <c:pt idx="1">
                  <c:v>12.06</c:v>
                </c:pt>
                <c:pt idx="2">
                  <c:v>2.92</c:v>
                </c:pt>
                <c:pt idx="3">
                  <c:v>67.03</c:v>
                </c:pt>
                <c:pt idx="4">
                  <c:v>6.59</c:v>
                </c:pt>
                <c:pt idx="5">
                  <c:v>35.26</c:v>
                </c:pt>
                <c:pt idx="6">
                  <c:v>5.6</c:v>
                </c:pt>
                <c:pt idx="7">
                  <c:v>6.42</c:v>
                </c:pt>
                <c:pt idx="8">
                  <c:v>34.06</c:v>
                </c:pt>
                <c:pt idx="9">
                  <c:v>0.5</c:v>
                </c:pt>
                <c:pt idx="10">
                  <c:v>31.45</c:v>
                </c:pt>
                <c:pt idx="11">
                  <c:v>35.65</c:v>
                </c:pt>
                <c:pt idx="12">
                  <c:v>6.06</c:v>
                </c:pt>
                <c:pt idx="13">
                  <c:v>0.57</c:v>
                </c:pt>
                <c:pt idx="14">
                  <c:v>5.6</c:v>
                </c:pt>
                <c:pt idx="15">
                  <c:v>6.38</c:v>
                </c:pt>
                <c:pt idx="16">
                  <c:v>36.42</c:v>
                </c:pt>
                <c:pt idx="17">
                  <c:v>0.78</c:v>
                </c:pt>
                <c:pt idx="18">
                  <c:v>6.35</c:v>
                </c:pt>
                <c:pt idx="19">
                  <c:v>33.79</c:v>
                </c:pt>
                <c:pt idx="20">
                  <c:v>80.52</c:v>
                </c:pt>
                <c:pt idx="21">
                  <c:v>5.47</c:v>
                </c:pt>
                <c:pt idx="22">
                  <c:v>100</c:v>
                </c:pt>
                <c:pt idx="23">
                  <c:v>0.45</c:v>
                </c:pt>
                <c:pt idx="24">
                  <c:v>8.68</c:v>
                </c:pt>
                <c:pt idx="25">
                  <c:v>5.95</c:v>
                </c:pt>
                <c:pt idx="26">
                  <c:v>35.11</c:v>
                </c:pt>
                <c:pt idx="27">
                  <c:v>87.16</c:v>
                </c:pt>
                <c:pt idx="28">
                  <c:v>0.97</c:v>
                </c:pt>
                <c:pt idx="29">
                  <c:v>12.55</c:v>
                </c:pt>
                <c:pt idx="30">
                  <c:v>5.84</c:v>
                </c:pt>
                <c:pt idx="31">
                  <c:v>0.82</c:v>
                </c:pt>
                <c:pt idx="32">
                  <c:v>80.16</c:v>
                </c:pt>
                <c:pt idx="33">
                  <c:v>88.68</c:v>
                </c:pt>
                <c:pt idx="34">
                  <c:v>14.87</c:v>
                </c:pt>
                <c:pt idx="35">
                  <c:v>0.37</c:v>
                </c:pt>
                <c:pt idx="36">
                  <c:v>14.08</c:v>
                </c:pt>
                <c:pt idx="37">
                  <c:v>70.89</c:v>
                </c:pt>
                <c:pt idx="38">
                  <c:v>95.81</c:v>
                </c:pt>
                <c:pt idx="39">
                  <c:v>6.94</c:v>
                </c:pt>
                <c:pt idx="40">
                  <c:v>10.57</c:v>
                </c:pt>
                <c:pt idx="41">
                  <c:v>90.76</c:v>
                </c:pt>
                <c:pt idx="42">
                  <c:v>4.8</c:v>
                </c:pt>
                <c:pt idx="43">
                  <c:v>79.16</c:v>
                </c:pt>
                <c:pt idx="44">
                  <c:v>1.06</c:v>
                </c:pt>
                <c:pt idx="45">
                  <c:v>0.15</c:v>
                </c:pt>
                <c:pt idx="46">
                  <c:v>93.59</c:v>
                </c:pt>
                <c:pt idx="47">
                  <c:v>62.97</c:v>
                </c:pt>
                <c:pt idx="48">
                  <c:v>9.14</c:v>
                </c:pt>
                <c:pt idx="49">
                  <c:v>5.06</c:v>
                </c:pt>
              </c:numCache>
            </c:numRef>
          </c:xVal>
          <c:yVal>
            <c:numRef>
              <c:f>Sheet1!$D$2:$D$51</c:f>
              <c:numCache>
                <c:formatCode>General</c:formatCode>
                <c:ptCount val="50"/>
                <c:pt idx="0">
                  <c:v/>
                </c:pt>
                <c:pt idx="1">
                  <c:v>12.284</c:v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>6.87</c:v>
                </c:pt>
                <c:pt idx="8">
                  <c:v/>
                </c:pt>
                <c:pt idx="9">
                  <c:v/>
                </c:pt>
                <c:pt idx="10">
                  <c:v/>
                </c:pt>
                <c:pt idx="11">
                  <c:v/>
                </c:pt>
                <c:pt idx="12">
                  <c:v>6.934</c:v>
                </c:pt>
                <c:pt idx="13">
                  <c:v/>
                </c:pt>
                <c:pt idx="14">
                  <c:v/>
                </c:pt>
                <c:pt idx="15">
                  <c:v>7.04</c:v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/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>11.245</c:v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>12.37</c:v>
                </c:pt>
                <c:pt idx="30">
                  <c:v/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>15.593</c:v>
                </c:pt>
                <c:pt idx="35">
                  <c:v/>
                </c:pt>
                <c:pt idx="36">
                  <c:v>20.819</c:v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13.775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>12.096</c:v>
                </c:pt>
                <c:pt idx="49">
                  <c:v/>
                </c:pt>
              </c:numCache>
            </c:numRef>
          </c:y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Mixed</c:v>
                </c:pt>
              </c:strCache>
            </c:strRef>
          </c:tx>
          <c:spPr>
            <a:solidFill>
              <a:srgbClr val="4A3AA7"/>
            </a:solidFill>
            <a:ln>
              <a:noFill/>
            </a:ln>
            <a:effectLst/>
          </c:spPr>
          <c:marker>
            <c:symbol val="circle"/>
            <c:size val="9"/>
            <c:spPr>
              <a:solidFill>
                <a:srgbClr val="4A3AA7"/>
              </a:solidFill>
              <a:ln w="9525" cap="flat">
                <a:solidFill>
                  <a:srgbClr val="4A3AA7"/>
                </a:solidFill>
                <a:prstDash val="solid"/>
                <a:round/>
              </a:ln>
              <a:effectLst/>
            </c:spPr>
          </c:marker>
          <c:xVal>
            <c:numRef>
              <c:f>Sheet1!$A$2:$A$51</c:f>
              <c:numCache>
                <c:formatCode>General</c:formatCode>
                <c:ptCount val="50"/>
                <c:pt idx="0">
                  <c:v>37.11</c:v>
                </c:pt>
                <c:pt idx="1">
                  <c:v>12.06</c:v>
                </c:pt>
                <c:pt idx="2">
                  <c:v>2.92</c:v>
                </c:pt>
                <c:pt idx="3">
                  <c:v>67.03</c:v>
                </c:pt>
                <c:pt idx="4">
                  <c:v>6.59</c:v>
                </c:pt>
                <c:pt idx="5">
                  <c:v>35.26</c:v>
                </c:pt>
                <c:pt idx="6">
                  <c:v>5.6</c:v>
                </c:pt>
                <c:pt idx="7">
                  <c:v>6.42</c:v>
                </c:pt>
                <c:pt idx="8">
                  <c:v>34.06</c:v>
                </c:pt>
                <c:pt idx="9">
                  <c:v>0.5</c:v>
                </c:pt>
                <c:pt idx="10">
                  <c:v>31.45</c:v>
                </c:pt>
                <c:pt idx="11">
                  <c:v>35.65</c:v>
                </c:pt>
                <c:pt idx="12">
                  <c:v>6.06</c:v>
                </c:pt>
                <c:pt idx="13">
                  <c:v>0.57</c:v>
                </c:pt>
                <c:pt idx="14">
                  <c:v>5.6</c:v>
                </c:pt>
                <c:pt idx="15">
                  <c:v>6.38</c:v>
                </c:pt>
                <c:pt idx="16">
                  <c:v>36.42</c:v>
                </c:pt>
                <c:pt idx="17">
                  <c:v>0.78</c:v>
                </c:pt>
                <c:pt idx="18">
                  <c:v>6.35</c:v>
                </c:pt>
                <c:pt idx="19">
                  <c:v>33.79</c:v>
                </c:pt>
                <c:pt idx="20">
                  <c:v>80.52</c:v>
                </c:pt>
                <c:pt idx="21">
                  <c:v>5.47</c:v>
                </c:pt>
                <c:pt idx="22">
                  <c:v>100</c:v>
                </c:pt>
                <c:pt idx="23">
                  <c:v>0.45</c:v>
                </c:pt>
                <c:pt idx="24">
                  <c:v>8.68</c:v>
                </c:pt>
                <c:pt idx="25">
                  <c:v>5.95</c:v>
                </c:pt>
                <c:pt idx="26">
                  <c:v>35.11</c:v>
                </c:pt>
                <c:pt idx="27">
                  <c:v>87.16</c:v>
                </c:pt>
                <c:pt idx="28">
                  <c:v>0.97</c:v>
                </c:pt>
                <c:pt idx="29">
                  <c:v>12.55</c:v>
                </c:pt>
                <c:pt idx="30">
                  <c:v>5.84</c:v>
                </c:pt>
                <c:pt idx="31">
                  <c:v>0.82</c:v>
                </c:pt>
                <c:pt idx="32">
                  <c:v>80.16</c:v>
                </c:pt>
                <c:pt idx="33">
                  <c:v>88.68</c:v>
                </c:pt>
                <c:pt idx="34">
                  <c:v>14.87</c:v>
                </c:pt>
                <c:pt idx="35">
                  <c:v>0.37</c:v>
                </c:pt>
                <c:pt idx="36">
                  <c:v>14.08</c:v>
                </c:pt>
                <c:pt idx="37">
                  <c:v>70.89</c:v>
                </c:pt>
                <c:pt idx="38">
                  <c:v>95.81</c:v>
                </c:pt>
                <c:pt idx="39">
                  <c:v>6.94</c:v>
                </c:pt>
                <c:pt idx="40">
                  <c:v>10.57</c:v>
                </c:pt>
                <c:pt idx="41">
                  <c:v>90.76</c:v>
                </c:pt>
                <c:pt idx="42">
                  <c:v>4.8</c:v>
                </c:pt>
                <c:pt idx="43">
                  <c:v>79.16</c:v>
                </c:pt>
                <c:pt idx="44">
                  <c:v>1.06</c:v>
                </c:pt>
                <c:pt idx="45">
                  <c:v>0.15</c:v>
                </c:pt>
                <c:pt idx="46">
                  <c:v>93.59</c:v>
                </c:pt>
                <c:pt idx="47">
                  <c:v>62.97</c:v>
                </c:pt>
                <c:pt idx="48">
                  <c:v>9.14</c:v>
                </c:pt>
                <c:pt idx="49">
                  <c:v>5.06</c:v>
                </c:pt>
              </c:numCache>
            </c:numRef>
          </c:xVal>
          <c:yVal>
            <c:numRef>
              <c:f>Sheet1!$E$2:$E$51</c:f>
              <c:numCache>
                <c:formatCode>General</c:formatCode>
                <c:ptCount val="50"/>
                <c:pt idx="0">
                  <c:v>33.482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>28.576</c:v>
                </c:pt>
                <c:pt idx="9">
                  <c:v/>
                </c:pt>
                <c:pt idx="10">
                  <c:v>25.114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>21.92</c:v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97.031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>86.787</c:v>
                </c:pt>
                <c:pt idx="28">
                  <c:v/>
                </c:pt>
                <c:pt idx="29">
                  <c:v/>
                </c:pt>
                <c:pt idx="30">
                  <c:v/>
                </c:pt>
                <c:pt idx="31">
                  <c:v/>
                </c:pt>
                <c:pt idx="32">
                  <c:v>80.276</c:v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>98.68</c:v>
                </c:pt>
                <c:pt idx="39">
                  <c:v/>
                </c:pt>
                <c:pt idx="40">
                  <c:v/>
                </c:pt>
                <c:pt idx="41">
                  <c:v>81.361</c:v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>89.26</c:v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</c:numCache>
            </c:numRef>
          </c:yVal>
          <c:smooth val="0"/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CPU</c:v>
                </c:pt>
              </c:strCache>
            </c:strRef>
          </c:tx>
          <c:spPr>
            <a:solidFill>
              <a:srgbClr val="2A78D6"/>
            </a:solidFill>
            <a:ln>
              <a:noFill/>
            </a:ln>
            <a:effectLst/>
          </c:spPr>
          <c:marker>
            <c:symbol val="circle"/>
            <c:size val="9"/>
            <c:spPr>
              <a:solidFill>
                <a:srgbClr val="2A78D6"/>
              </a:solidFill>
              <a:ln w="9525" cap="flat">
                <a:solidFill>
                  <a:srgbClr val="2A78D6"/>
                </a:solidFill>
                <a:prstDash val="solid"/>
                <a:round/>
              </a:ln>
              <a:effectLst/>
            </c:spPr>
          </c:marker>
          <c:xVal>
            <c:numRef>
              <c:f>Sheet1!$A$2:$A$51</c:f>
              <c:numCache>
                <c:formatCode>General</c:formatCode>
                <c:ptCount val="50"/>
                <c:pt idx="0">
                  <c:v>37.11</c:v>
                </c:pt>
                <c:pt idx="1">
                  <c:v>12.06</c:v>
                </c:pt>
                <c:pt idx="2">
                  <c:v>2.92</c:v>
                </c:pt>
                <c:pt idx="3">
                  <c:v>67.03</c:v>
                </c:pt>
                <c:pt idx="4">
                  <c:v>6.59</c:v>
                </c:pt>
                <c:pt idx="5">
                  <c:v>35.26</c:v>
                </c:pt>
                <c:pt idx="6">
                  <c:v>5.6</c:v>
                </c:pt>
                <c:pt idx="7">
                  <c:v>6.42</c:v>
                </c:pt>
                <c:pt idx="8">
                  <c:v>34.06</c:v>
                </c:pt>
                <c:pt idx="9">
                  <c:v>0.5</c:v>
                </c:pt>
                <c:pt idx="10">
                  <c:v>31.45</c:v>
                </c:pt>
                <c:pt idx="11">
                  <c:v>35.65</c:v>
                </c:pt>
                <c:pt idx="12">
                  <c:v>6.06</c:v>
                </c:pt>
                <c:pt idx="13">
                  <c:v>0.57</c:v>
                </c:pt>
                <c:pt idx="14">
                  <c:v>5.6</c:v>
                </c:pt>
                <c:pt idx="15">
                  <c:v>6.38</c:v>
                </c:pt>
                <c:pt idx="16">
                  <c:v>36.42</c:v>
                </c:pt>
                <c:pt idx="17">
                  <c:v>0.78</c:v>
                </c:pt>
                <c:pt idx="18">
                  <c:v>6.35</c:v>
                </c:pt>
                <c:pt idx="19">
                  <c:v>33.79</c:v>
                </c:pt>
                <c:pt idx="20">
                  <c:v>80.52</c:v>
                </c:pt>
                <c:pt idx="21">
                  <c:v>5.47</c:v>
                </c:pt>
                <c:pt idx="22">
                  <c:v>100</c:v>
                </c:pt>
                <c:pt idx="23">
                  <c:v>0.45</c:v>
                </c:pt>
                <c:pt idx="24">
                  <c:v>8.68</c:v>
                </c:pt>
                <c:pt idx="25">
                  <c:v>5.95</c:v>
                </c:pt>
                <c:pt idx="26">
                  <c:v>35.11</c:v>
                </c:pt>
                <c:pt idx="27">
                  <c:v>87.16</c:v>
                </c:pt>
                <c:pt idx="28">
                  <c:v>0.97</c:v>
                </c:pt>
                <c:pt idx="29">
                  <c:v>12.55</c:v>
                </c:pt>
                <c:pt idx="30">
                  <c:v>5.84</c:v>
                </c:pt>
                <c:pt idx="31">
                  <c:v>0.82</c:v>
                </c:pt>
                <c:pt idx="32">
                  <c:v>80.16</c:v>
                </c:pt>
                <c:pt idx="33">
                  <c:v>88.68</c:v>
                </c:pt>
                <c:pt idx="34">
                  <c:v>14.87</c:v>
                </c:pt>
                <c:pt idx="35">
                  <c:v>0.37</c:v>
                </c:pt>
                <c:pt idx="36">
                  <c:v>14.08</c:v>
                </c:pt>
                <c:pt idx="37">
                  <c:v>70.89</c:v>
                </c:pt>
                <c:pt idx="38">
                  <c:v>95.81</c:v>
                </c:pt>
                <c:pt idx="39">
                  <c:v>6.94</c:v>
                </c:pt>
                <c:pt idx="40">
                  <c:v>10.57</c:v>
                </c:pt>
                <c:pt idx="41">
                  <c:v>90.76</c:v>
                </c:pt>
                <c:pt idx="42">
                  <c:v>4.8</c:v>
                </c:pt>
                <c:pt idx="43">
                  <c:v>79.16</c:v>
                </c:pt>
                <c:pt idx="44">
                  <c:v>1.06</c:v>
                </c:pt>
                <c:pt idx="45">
                  <c:v>0.15</c:v>
                </c:pt>
                <c:pt idx="46">
                  <c:v>93.59</c:v>
                </c:pt>
                <c:pt idx="47">
                  <c:v>62.97</c:v>
                </c:pt>
                <c:pt idx="48">
                  <c:v>9.14</c:v>
                </c:pt>
                <c:pt idx="49">
                  <c:v>5.06</c:v>
                </c:pt>
              </c:numCache>
            </c:numRef>
          </c:xVal>
          <c:yVal>
            <c:numRef>
              <c:f>Sheet1!$F$2:$F$51</c:f>
              <c:numCache>
                <c:formatCode>General</c:formatCode>
                <c:ptCount val="50"/>
                <c:pt idx="0">
                  <c:v/>
                </c:pt>
                <c:pt idx="1">
                  <c:v/>
                </c:pt>
                <c:pt idx="2">
                  <c:v/>
                </c:pt>
                <c:pt idx="3">
                  <c:v>110.321</c:v>
                </c:pt>
                <c:pt idx="4">
                  <c:v/>
                </c:pt>
                <c:pt idx="5">
                  <c:v>31.395</c:v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/>
                </c:pt>
                <c:pt idx="11">
                  <c:v>30.531</c:v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>32.396</c:v>
                </c:pt>
                <c:pt idx="20">
                  <c:v/>
                </c:pt>
                <c:pt idx="21">
                  <c:v/>
                </c:pt>
                <c:pt idx="22">
                  <c:v>162.589</c:v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>25.941</c:v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/>
                </c:pt>
                <c:pt idx="31">
                  <c:v/>
                </c:pt>
                <c:pt idx="32">
                  <c:v/>
                </c:pt>
                <c:pt idx="33">
                  <c:v>154.428</c:v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>187.465</c:v>
                </c:pt>
                <c:pt idx="38">
                  <c:v/>
                </c:pt>
                <c:pt idx="39">
                  <c:v/>
                </c:pt>
                <c:pt idx="40">
                  <c:v/>
                </c:pt>
                <c:pt idx="41">
                  <c:v/>
                </c:pt>
                <c:pt idx="42">
                  <c:v/>
                </c:pt>
                <c:pt idx="43">
                  <c:v>140.737</c:v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>49.408</c:v>
                </c:pt>
                <c:pt idx="48">
                  <c:v/>
                </c:pt>
                <c:pt idx="49">
                  <c:v/>
                </c:pt>
              </c:numCache>
            </c:numRef>
          </c:yVal>
          <c:smooth val="0"/>
        </c:ser>
        <c:dLbls>
          <c:numFmt formatCode="General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logBase val="10"/>
          <c:orientation val="minMax"/>
          <c:max val="100"/>
          <c:min val="0.1"/>
        </c:scaling>
        <c:delete val="0"/>
        <c:axPos val="b"/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3A4256"/>
                    </a:solidFill>
                    <a:latin typeface="Segoe UI"/>
                  </a:defRPr>
                </a:pPr>
                <a:r>
                  <a:rPr sz="1200" b="0" i="0" u="none" strike="noStrike">
                    <a:solidFill>
                      <a:srgbClr val="3A4256"/>
                    </a:solidFill>
                    <a:latin typeface="Segoe UI"/>
                  </a:rPr>
                  <a:t>Canary stall index, WSI (%, log)</a:t>
                </a:r>
              </a:p>
            </c:rich>
          </c:tx>
          <c:layout/>
          <c:overlay val="0"/>
        </c:title>
        <c:numFmt formatCode="General" sourceLinked="1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280"/>
                </a:solidFill>
                <a:latin typeface="Segoe UI"/>
              </a:defRPr>
            </a:pPr>
            <a:endParaRPr lang="en-US"/>
          </a:p>
        </c:txPr>
        <c:crossAx val="2094734552"/>
        <c:crosses val="min"/>
        <c:auto val="1"/>
        <c:lblAlgn val="ctr"/>
        <c:noMultiLvlLbl val="1"/>
      </c:valAx>
      <c:valAx>
        <c:axId val="2094734552"/>
        <c:scaling>
          <c:logBase val="10"/>
          <c:orientation val="minMax"/>
          <c:max val="300"/>
          <c:min val="1"/>
        </c:scaling>
        <c:delete val="0"/>
        <c:axPos val="l"/>
        <c:majorGridlines>
          <c:spPr>
            <a:ln w="9525" cap="flat">
              <a:solidFill>
                <a:srgbClr val="E5E7EB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3A4256"/>
                    </a:solidFill>
                    <a:latin typeface="Segoe UI"/>
                  </a:defRPr>
                </a:pPr>
                <a:r>
                  <a:rPr sz="1200" b="0" i="0" u="none" strike="noStrike">
                    <a:solidFill>
                      <a:srgbClr val="3A4256"/>
                    </a:solidFill>
                    <a:latin typeface="Segoe UI"/>
                  </a:rPr>
                  <a:t>Real app's p95 latency (ms, log)</a:t>
                </a:r>
              </a:p>
            </c:rich>
          </c:tx>
          <c:layout/>
          <c:overlay val="0"/>
        </c:title>
        <c:numFmt formatCode="General" sourceLinked="0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280"/>
                </a:solidFill>
                <a:latin typeface="Segoe UI"/>
              </a:defRPr>
            </a:pPr>
            <a:endParaRPr lang="en-US"/>
          </a:p>
        </c:txPr>
        <c:crossAx val="2094734554"/>
        <c:crosses val="min"/>
        <c:crossBetween val="midCat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3A4256"/>
              </a:solidFill>
              <a:latin typeface="Segoe UI"/>
              <a:cs typeface="Segoe UI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Static priority (baseline)</c:v>
                </c:pt>
              </c:strCache>
            </c:strRef>
          </c:tx>
          <c:spPr>
            <a:solidFill>
              <a:srgbClr val="9AA5B8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3A4256"/>
                    </a:solidFill>
                    <a:latin typeface="Segoe U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CPU</c:v>
                  </c:pt>
                  <c:pt idx="1">
                    <c:v>Memory bandwidth</c:v>
                  </c:pt>
                  <c:pt idx="2">
                    <c:v>Mixed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93</c:v>
                </c:pt>
                <c:pt idx="1">
                  <c:v>46</c:v>
                </c:pt>
                <c:pt idx="2">
                  <c:v>93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SmartSwap v2</c:v>
                </c:pt>
              </c:strCache>
            </c:strRef>
          </c:tx>
          <c:spPr>
            <a:solidFill>
              <a:srgbClr val="2A78D6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3A4256"/>
                    </a:solidFill>
                    <a:latin typeface="Segoe U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CPU</c:v>
                  </c:pt>
                  <c:pt idx="1">
                    <c:v>Memory bandwidth</c:v>
                  </c:pt>
                  <c:pt idx="2">
                    <c:v>Mixed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94</c:v>
                </c:pt>
                <c:pt idx="1">
                  <c:v>54</c:v>
                </c:pt>
                <c:pt idx="2">
                  <c:v>92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v2 + E-core steering</c:v>
                </c:pt>
              </c:strCache>
            </c:strRef>
          </c:tx>
          <c:spPr>
            <a:solidFill>
              <a:srgbClr val="E8590C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3A4256"/>
                    </a:solidFill>
                    <a:latin typeface="Segoe U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CPU</c:v>
                  </c:pt>
                  <c:pt idx="1">
                    <c:v>Memory bandwidth</c:v>
                  </c:pt>
                  <c:pt idx="2">
                    <c:v>Mixed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93</c:v>
                </c:pt>
                <c:pt idx="1">
                  <c:v>63</c:v>
                </c:pt>
                <c:pt idx="2">
                  <c:v>92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3A4256"/>
                  </a:solidFill>
                  <a:latin typeface="Segoe U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A4256"/>
                </a:solidFill>
                <a:latin typeface="Segoe U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9525" cap="flat">
              <a:solidFill>
                <a:srgbClr val="E5E7EB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3A4256"/>
                    </a:solidFill>
                    <a:latin typeface="Segoe UI"/>
                  </a:defRPr>
                </a:pPr>
                <a:r>
                  <a:rPr sz="1200" b="0" i="0" u="none" strike="noStrike">
                    <a:solidFill>
                      <a:srgbClr val="3A4256"/>
                    </a:solidFill>
                    <a:latin typeface="Segoe UI"/>
                  </a:rPr>
                  <a:t>p95 reduction vs. no mitigation</a:t>
                </a:r>
              </a:p>
            </c:rich>
          </c:tx>
          <c:layout/>
          <c:overlay val="0"/>
        </c:title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280"/>
                </a:solidFill>
                <a:latin typeface="Segoe U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3A4256"/>
              </a:solidFill>
              <a:latin typeface="Segoe UI"/>
              <a:cs typeface="Segoe U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team and the one-line idea. SmartSwap answers a question Windows cannot answer today: how much time is background work stealing from the app I am using, which resource is responsible, and did the fix actually help. The screenshot is the real dashboard, captured while we injected CPU load.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Problem statement (1 mark). Everyone has felt a laptop lag while OneDrive or Windows Update runs. Task Manager shows utilisation, which is not the same as harm. Our measured example: with memory-bandwidth load, half the cores are idle, yet the interactive task's tail latency is 2.6 times worse. Read the formal problem statement at the bottom.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Literature review (1 mark). Linux solved measurement with PSI in 2018. Data-centre systems like Heracles, PARTIES and Caladan control interference, but assume server hardware, root access, or modified applications. Bubble-Up inspired our canary idea. Windows tools show utilisation only. That leaves the gap in orange.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Project objectives (1 mark). Each objective has a measurable target and we show the measured result next to it. 460 trials = 340 in the main study plus 120 in the hybrid-core study, with zero failed trials.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Novelty (3 marks), the most important slide. One: Windows has no user-mode stall metric like Linux PSI, so we built one and validated it against a separate app. Two: attribution ordered by how specific each symptom is; the naive rule gets memory contention wrong. Three: cheapest fix first, every action verified twice, and the ablation shows the ladder matters. Four: on hybrid CPUs we steer background work to E-cores before throttling, which beat static priority on memory contention with a 95% CI of 0.67 to 0.75.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System design and architecture (1 mark). Walk left to right: the canary feels the contention, the WSI turns it into a percentage of time lost and names the cause, the controller picks the cheapest action, the actuator applies it through documented Windows APIs and reads it back. The dashed line: SmartSwap only releases a fix once the background group is actually quiet. The foreground app is never modified.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Module identification (1 mark). Six modules with clear boundaries: probes, measurement and attribution, the control ladder, the Windows actuator, the experiment engine, and analysis plus dashboard. The controller is pure logic with no Windows calls, so it is unit-tested and can be replayed offline.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Module completion (4 marks). This screenshot is a real trial from our dashboard: the controller lowered priority, then capped the background CPU rate and tuned it up and down with AIMD; every one of the 24 actions has a green tick because Windows confirmed it. 25 automated tests pass (23 backend, 2 frontend). We ran 460 controlled trials with zero failures.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Results 1: the key validation. In observe-only trials SmartSwap measures but never acts, so this is a clean test: the canary's stall index rises in lock-step with the real foreground's tail latency, rank correlation 0.96. Used as a detector it almost never fires on a quiet machine (1.2%) and it names the right cause most of the time.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Results 2 and next steps. From the 120-trial hybrid study: SmartSwap and static priority both remove over 90% of tail latency under CPU and mixed contention. Under memory-bandwidth contention, adding E-core steering gives the best result, 27% lower p95 than static priority. We say clearly where we do not win. For Review 3: the IEEE paper is drafted; we will replicate on a second laptop, add a real application, and submit.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SmartSwap  ·  BCSE303P Operating Systems Lab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8580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9FB3D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BCSE303P  ·  OS LAB  ·  PROJECT REVIEWS 1 &amp; 2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34440"/>
            <a:ext cx="5669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SmartSwap</a:t>
            </a:r>
            <a:endParaRPr lang="en-US" sz="5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240280"/>
            <a:ext cx="5303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Measuring, and fixing, the time background work steals from the app you are using on stock Windows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3840480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No admin rights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9FB3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user-mode only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2423160" y="3840480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Names the cause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9FB3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CPU · memory · storage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4206240" y="3840480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Proves every fix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9FB3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read back from Windows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5623560"/>
            <a:ext cx="5760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Team: Name One (Reg. No.)  ·  Name Two (Reg. No.)  ·  Name Three (Reg. No.)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Guide: Prof. Name  ·  School of Computer Science and Engineering, VIT</a:t>
            </a:r>
            <a:endParaRPr lang="en-US" sz="1200" dirty="0"/>
          </a:p>
        </p:txBody>
      </p:sp>
      <p:pic>
        <p:nvPicPr>
          <p:cNvPr id="9" name="Image 0" descr="C:\Users\Sri vaishnavi\AppData\Local\Temp\claude\C--Users-Sri-vaishnavi-OneDrive-Documents-New-project\d3331c45-cd06-4db3-86d4-dddb1319d0d1\scratchpad\deck\crop_monit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46520" y="960120"/>
            <a:ext cx="5257800" cy="3988676"/>
          </a:xfrm>
          <a:prstGeom prst="rect">
            <a:avLst/>
          </a:prstGeom>
          <a:effectLst>
            <a:outerShdw sx="100000" sy="100000" kx="0" ky="0" algn="bl" rotWithShape="0" blurRad="228600" dist="76200" dir="5400000">
              <a:srgbClr val="000000">
                <a:alpha val="45000"/>
              </a:srgbClr>
            </a:outerShdw>
          </a:effectLst>
        </p:spPr>
      </p:pic>
      <p:sp>
        <p:nvSpPr>
          <p:cNvPr id="10" name="Text 7"/>
          <p:cNvSpPr txBox="1"/>
          <p:nvPr/>
        </p:nvSpPr>
        <p:spPr>
          <a:xfrm>
            <a:off x="6446520" y="5085956"/>
            <a:ext cx="5257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live dashboard during real CPU contention: 80% of the canary's time lost, cause named, cap stage reached.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E8590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01 · PROBLEM STATEMENT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10287000" y="347472"/>
            <a:ext cx="1371600" cy="329184"/>
          </a:xfrm>
          <a:prstGeom prst="roundRect">
            <a:avLst>
              <a:gd name="adj" fmla="val 50000"/>
            </a:avLst>
          </a:prstGeom>
          <a:solidFill>
            <a:srgbClr val="F3F6FB"/>
          </a:solidFill>
          <a:ln w="9525">
            <a:solidFill>
              <a:srgbClr val="D9DEE7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287000" y="347472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4213D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Review 1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49808"/>
            <a:ext cx="11064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14213D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Task Manager shows how busy the PC is, not how much you are being slowed down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956816"/>
            <a:ext cx="384048" cy="384048"/>
          </a:xfrm>
          <a:prstGeom prst="ellipse">
            <a:avLst/>
          </a:prstGeom>
          <a:solidFill>
            <a:srgbClr val="EAF2F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19568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A78D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1920240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4213D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Background work never stops. </a:t>
            </a:r>
            <a:pPr indent="0" marL="0">
              <a:buNone/>
            </a:pPr>
            <a:r>
              <a:rPr lang="en-US" sz="1500" dirty="0">
                <a:solidFill>
                  <a:srgbClr val="3A42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Sync, search indexing, updates and builds run while you work. On our test laptop they used 3–4 cores without being asked.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2980944"/>
            <a:ext cx="384048" cy="384048"/>
          </a:xfrm>
          <a:prstGeom prst="ellipse">
            <a:avLst/>
          </a:prstGeom>
          <a:solidFill>
            <a:srgbClr val="EAF2F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48640" y="29809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A78D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097280" y="2944368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4213D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Busy is the wrong signal. </a:t>
            </a:r>
            <a:pPr indent="0" marL="0">
              <a:buNone/>
            </a:pPr>
            <a:r>
              <a:rPr lang="en-US" sz="1500" dirty="0">
                <a:solidFill>
                  <a:srgbClr val="3A42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Memory-bandwidth contention can make an app several times slower while half the cores are idle. No Task Manager counter shows it.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4005072"/>
            <a:ext cx="384048" cy="384048"/>
          </a:xfrm>
          <a:prstGeom prst="ellipse">
            <a:avLst/>
          </a:prstGeom>
          <a:solidFill>
            <a:srgbClr val="FFF1E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40050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590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097280" y="3968496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4213D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Today's fixes are blind. </a:t>
            </a:r>
            <a:pPr indent="0" marL="0">
              <a:buNone/>
            </a:pPr>
            <a:r>
              <a:rPr lang="en-US" sz="1500" dirty="0">
                <a:solidFill>
                  <a:srgbClr val="3A42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Priority tweaks and “optimizer” tools change settings without measuring whether the user actually benefits.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675120" y="1874520"/>
            <a:ext cx="4983480" cy="1325880"/>
          </a:xfrm>
          <a:prstGeom prst="roundRect">
            <a:avLst>
              <a:gd name="adj" fmla="val 8276"/>
            </a:avLst>
          </a:prstGeom>
          <a:solidFill>
            <a:srgbClr val="EAF2FC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949440" y="1938528"/>
            <a:ext cx="4572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2A78D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8 of 16</a:t>
            </a:r>
            <a:endParaRPr lang="en-US" sz="4000" dirty="0"/>
          </a:p>
          <a:p>
            <a:pPr indent="0" marL="0">
              <a:buNone/>
            </a:pPr>
            <a:r>
              <a:rPr lang="en-US" sz="1400" dirty="0">
                <a:solidFill>
                  <a:srgbClr val="3A42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CPU cores idle under memory-bandwidth load</a:t>
            </a:r>
            <a:endParaRPr lang="en-US" sz="4000" dirty="0"/>
          </a:p>
        </p:txBody>
      </p:sp>
      <p:sp>
        <p:nvSpPr>
          <p:cNvPr id="17" name="Text 15"/>
          <p:cNvSpPr txBox="1"/>
          <p:nvPr/>
        </p:nvSpPr>
        <p:spPr>
          <a:xfrm>
            <a:off x="6675120" y="3246120"/>
            <a:ext cx="4983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yet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675120" y="3611880"/>
            <a:ext cx="4983480" cy="1325880"/>
          </a:xfrm>
          <a:prstGeom prst="roundRect">
            <a:avLst>
              <a:gd name="adj" fmla="val 8276"/>
            </a:avLst>
          </a:prstGeom>
          <a:solidFill>
            <a:srgbClr val="FFF1EA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949440" y="3675888"/>
            <a:ext cx="4572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E8590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2.6× slower</a:t>
            </a:r>
            <a:endParaRPr lang="en-US" sz="4000" dirty="0"/>
          </a:p>
          <a:p>
            <a:pPr indent="0" marL="0">
              <a:buNone/>
            </a:pPr>
            <a:r>
              <a:rPr lang="en-US" sz="1400" dirty="0">
                <a:solidFill>
                  <a:srgbClr val="3A42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interactive tail latency (p95 3.95 → 10.8 ms)</a:t>
            </a:r>
            <a:endParaRPr lang="en-US" sz="4000" dirty="0"/>
          </a:p>
        </p:txBody>
      </p:sp>
      <p:sp>
        <p:nvSpPr>
          <p:cNvPr id="20" name="Shape 18"/>
          <p:cNvSpPr/>
          <p:nvPr/>
        </p:nvSpPr>
        <p:spPr>
          <a:xfrm>
            <a:off x="548640" y="5212080"/>
            <a:ext cx="11109960" cy="960120"/>
          </a:xfrm>
          <a:prstGeom prst="roundRect">
            <a:avLst>
              <a:gd name="adj" fmla="val 9524"/>
            </a:avLst>
          </a:prstGeom>
          <a:solidFill>
            <a:srgbClr val="F3F6FB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77240" y="5212080"/>
            <a:ext cx="10698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4213D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Problem statement  </a:t>
            </a:r>
            <a:pPr indent="0" marL="0">
              <a:buNone/>
            </a:pPr>
            <a:r>
              <a:rPr lang="en-US" sz="1500" dirty="0">
                <a:solidFill>
                  <a:srgbClr val="3A42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Unprivileged software on Windows cannot measure how much time interactive work loses to background interference, tell which resource causes it, or verify that a mitigation helped.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E8590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02 · LITERATURE REVIEW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10287000" y="347472"/>
            <a:ext cx="1371600" cy="329184"/>
          </a:xfrm>
          <a:prstGeom prst="roundRect">
            <a:avLst>
              <a:gd name="adj" fmla="val 50000"/>
            </a:avLst>
          </a:prstGeom>
          <a:solidFill>
            <a:srgbClr val="F3F6FB"/>
          </a:solidFill>
          <a:ln w="9525">
            <a:solidFill>
              <a:srgbClr val="D9DEE7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287000" y="347472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4213D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Review 1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49808"/>
            <a:ext cx="11064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14213D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Prior work measures stalls or controls interference, but not on an unprivileged desktop</a:t>
            </a:r>
            <a:endParaRPr lang="en-US" sz="2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11109960" cy="914400"/>
        </p:xfrm>
        <a:graphic>
          <a:graphicData uri="http://schemas.openxmlformats.org/drawingml/2006/table">
            <a:tbl>
              <a:tblPr/>
              <a:tblGrid>
                <a:gridCol w="3063240"/>
                <a:gridCol w="3977640"/>
                <a:gridCol w="406908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Work</a:t>
                      </a:r>
                      <a:endParaRPr lang="en-US" sz="130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What it contributes</a:t>
                      </a:r>
                      <a:endParaRPr lang="en-US" sz="130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Why it does not solve our problem</a:t>
                      </a:r>
                      <a:endParaRPr lang="en-US" sz="130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A425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Linux PSI (Weiner, 2018)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A425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Kernel-reported share of time tasks stall on CPU, memory or I/O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A425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Linux kernel only; Windows has no user-mode equivalent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A425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Heracles (ISCA 2015), PARTIES (ASPLOS 2019)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A425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Feedback controllers that co-locate latency-critical and batch jobs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A425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Need server cache/bandwidth partitioning and privileged control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A425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Caladan (OSDI 2020)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A425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Reacts to interference within microseconds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A425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Kernel-bypass runtime; the protected app must be rewritten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A425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Bubble-Up, Bubble-Flux (MICRO 2011, ISCA 2013)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A425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Synthetic probes measure how sensitive a job is to contention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A425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Offline profiling for data-centre placement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A425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Windows tools: Task Manager, priority, EcoQoS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A425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Show utilisation; static deprioritisation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A425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 harm measurement, no cause, no proof a change helped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48640" y="5440680"/>
            <a:ext cx="11109960" cy="731520"/>
          </a:xfrm>
          <a:prstGeom prst="roundRect">
            <a:avLst>
              <a:gd name="adj" fmla="val 12500"/>
            </a:avLst>
          </a:prstGeom>
          <a:solidFill>
            <a:srgbClr val="FFF1E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777240" y="544068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8590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Research gap  </a:t>
            </a:r>
            <a:pPr indent="0" marL="0">
              <a:buNone/>
            </a:pPr>
            <a:r>
              <a:rPr lang="en-US" sz="1500" dirty="0">
                <a:solidFill>
                  <a:srgbClr val="1421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privilege-free way on Windows to measure interference harm, name its cause, and prove that a fix worked.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E8590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03 · PROJECT OBJECTIVES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10287000" y="347472"/>
            <a:ext cx="1371600" cy="329184"/>
          </a:xfrm>
          <a:prstGeom prst="roundRect">
            <a:avLst>
              <a:gd name="adj" fmla="val 50000"/>
            </a:avLst>
          </a:prstGeom>
          <a:solidFill>
            <a:srgbClr val="F3F6FB"/>
          </a:solidFill>
          <a:ln w="9525">
            <a:solidFill>
              <a:srgbClr val="D9DEE7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287000" y="347472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4213D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Review 1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49808"/>
            <a:ext cx="11064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14213D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Five measurable objectives, all met in a 460-trial evaluation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874520"/>
            <a:ext cx="11109960" cy="731520"/>
          </a:xfrm>
          <a:prstGeom prst="roundRect">
            <a:avLst>
              <a:gd name="adj" fmla="val 12500"/>
            </a:avLst>
          </a:prstGeom>
          <a:solidFill>
            <a:srgbClr val="F3F6FB"/>
          </a:solidFill>
          <a:ln w="9525">
            <a:solidFill>
              <a:srgbClr val="D9DEE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1874520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A78D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O1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371600" y="1874520"/>
            <a:ext cx="5394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421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Measure interference harm from user mode, without admin rights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903720" y="2002536"/>
            <a:ext cx="4572000" cy="475488"/>
          </a:xfrm>
          <a:prstGeom prst="roundRect">
            <a:avLst>
              <a:gd name="adj" fmla="val 50000"/>
            </a:avLst>
          </a:prstGeom>
          <a:solidFill>
            <a:srgbClr val="E8F6E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086600" y="2002536"/>
            <a:ext cx="4343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5925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✓  </a:t>
            </a:r>
            <a:pPr indent="0" marL="0">
              <a:buNone/>
            </a:pPr>
            <a:r>
              <a:rPr lang="en-US" sz="1300" dirty="0">
                <a:solidFill>
                  <a:srgbClr val="0F51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Stall index tracks the real app's p95: ρ = 0.96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2724912"/>
            <a:ext cx="1110996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D9DEE7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31520" y="2724912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A78D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O2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1371600" y="2724912"/>
            <a:ext cx="5394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421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Identify which resource is contended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903720" y="2852928"/>
            <a:ext cx="4572000" cy="475488"/>
          </a:xfrm>
          <a:prstGeom prst="roundRect">
            <a:avLst>
              <a:gd name="adj" fmla="val 50000"/>
            </a:avLst>
          </a:prstGeom>
          <a:solidFill>
            <a:srgbClr val="E8F6E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086600" y="2852928"/>
            <a:ext cx="4343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5925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✓  </a:t>
            </a:r>
            <a:pPr indent="0" marL="0">
              <a:buNone/>
            </a:pPr>
            <a:r>
              <a:rPr lang="en-US" sz="1300" dirty="0">
                <a:solidFill>
                  <a:srgbClr val="0F51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Cause named correctly in 86–99.6% of stalled periods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575304"/>
            <a:ext cx="11109960" cy="731520"/>
          </a:xfrm>
          <a:prstGeom prst="roundRect">
            <a:avLst>
              <a:gd name="adj" fmla="val 12500"/>
            </a:avLst>
          </a:prstGeom>
          <a:solidFill>
            <a:srgbClr val="F3F6FB"/>
          </a:solidFill>
          <a:ln w="9525">
            <a:solidFill>
              <a:srgbClr val="D9DEE7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31520" y="3575304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A78D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O3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1371600" y="3575304"/>
            <a:ext cx="5394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421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Apply the cheapest effective fix automatically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903720" y="3703320"/>
            <a:ext cx="4572000" cy="475488"/>
          </a:xfrm>
          <a:prstGeom prst="roundRect">
            <a:avLst>
              <a:gd name="adj" fmla="val 50000"/>
            </a:avLst>
          </a:prstGeom>
          <a:solidFill>
            <a:srgbClr val="E8F6EF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086600" y="3703320"/>
            <a:ext cx="4343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5925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✓  </a:t>
            </a:r>
            <a:pPr indent="0" marL="0">
              <a:buNone/>
            </a:pPr>
            <a:r>
              <a:rPr lang="en-US" sz="1300" dirty="0">
                <a:solidFill>
                  <a:srgbClr val="0F51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Tail latency cut by up to 94%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48640" y="4425696"/>
            <a:ext cx="1110996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D9DEE7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31520" y="4425696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A78D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O4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1371600" y="4425696"/>
            <a:ext cx="5394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421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Verify every action and every revert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6903720" y="4553712"/>
            <a:ext cx="4572000" cy="475488"/>
          </a:xfrm>
          <a:prstGeom prst="roundRect">
            <a:avLst>
              <a:gd name="adj" fmla="val 50000"/>
            </a:avLst>
          </a:prstGeom>
          <a:solidFill>
            <a:srgbClr val="E8F6EF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7086600" y="4553712"/>
            <a:ext cx="4343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5925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✓  </a:t>
            </a:r>
            <a:pPr indent="0" marL="0">
              <a:buNone/>
            </a:pPr>
            <a:r>
              <a:rPr lang="en-US" sz="1300" dirty="0">
                <a:solidFill>
                  <a:srgbClr val="0F51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1,575 / 1,575 actions · 322 / 322 reverts verified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48640" y="5276088"/>
            <a:ext cx="11109960" cy="731520"/>
          </a:xfrm>
          <a:prstGeom prst="roundRect">
            <a:avLst>
              <a:gd name="adj" fmla="val 12500"/>
            </a:avLst>
          </a:prstGeom>
          <a:solidFill>
            <a:srgbClr val="F3F6FB"/>
          </a:solidFill>
          <a:ln w="9525">
            <a:solidFill>
              <a:srgbClr val="D9DEE7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31520" y="5276088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A78D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O5</a:t>
            </a:r>
            <a:endParaRPr lang="en-US" sz="1800" dirty="0"/>
          </a:p>
        </p:txBody>
      </p:sp>
      <p:sp>
        <p:nvSpPr>
          <p:cNvPr id="28" name="Text 26"/>
          <p:cNvSpPr txBox="1"/>
          <p:nvPr/>
        </p:nvSpPr>
        <p:spPr>
          <a:xfrm>
            <a:off x="1371600" y="5276088"/>
            <a:ext cx="5394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421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Evaluate rigorously, including the cost to background work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6903720" y="5404104"/>
            <a:ext cx="4572000" cy="475488"/>
          </a:xfrm>
          <a:prstGeom prst="roundRect">
            <a:avLst>
              <a:gd name="adj" fmla="val 50000"/>
            </a:avLst>
          </a:prstGeom>
          <a:solidFill>
            <a:srgbClr val="E8F6EF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7086600" y="5404104"/>
            <a:ext cx="4343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5925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✓  </a:t>
            </a:r>
            <a:pPr indent="0" marL="0">
              <a:buNone/>
            </a:pPr>
            <a:r>
              <a:rPr lang="en-US" sz="1300" dirty="0">
                <a:solidFill>
                  <a:srgbClr val="0F51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Randomised blocks, exact Wilcoxon, Holm, bootstrap CIs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E8590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04 · NOVELTY &amp; INNOVATION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10287000" y="347472"/>
            <a:ext cx="1371600" cy="329184"/>
          </a:xfrm>
          <a:prstGeom prst="roundRect">
            <a:avLst>
              <a:gd name="adj" fmla="val 50000"/>
            </a:avLst>
          </a:prstGeom>
          <a:solidFill>
            <a:srgbClr val="F3F6FB"/>
          </a:solidFill>
          <a:ln w="9525">
            <a:solidFill>
              <a:srgbClr val="D9DEE7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287000" y="347472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4213D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Review 1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49808"/>
            <a:ext cx="11064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14213D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Four ideas that no Windows tool combines today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5468112" cy="20574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D9DEE7"/>
            </a:solidFill>
            <a:prstDash val="solid"/>
          </a:ln>
          <a:effectLst>
            <a:outerShdw sx="100000" sy="100000" kx="0" ky="0" algn="bl" rotWithShape="0" blurRad="127000" dist="38100" dir="5400000">
              <a:srgbClr val="1B2A4A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22960" y="2084832"/>
            <a:ext cx="457200" cy="457200"/>
          </a:xfrm>
          <a:prstGeom prst="ellipse">
            <a:avLst/>
          </a:prstGeom>
          <a:solidFill>
            <a:srgbClr val="EAF2FC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20848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A78D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417320" y="2066544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4213D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Windows Stall Index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2633472"/>
            <a:ext cx="4983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A42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tiny canary times its own delays to estimate how much time interactive work is losing: a PSI-style signal Windows lacks.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3401568"/>
            <a:ext cx="4983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A78D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ρ = 0.96 with the real app's p95 · 1.2% false alarms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190488" y="1828800"/>
            <a:ext cx="5468112" cy="20574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D9DEE7"/>
            </a:solidFill>
            <a:prstDash val="solid"/>
          </a:ln>
          <a:effectLst>
            <a:outerShdw sx="100000" sy="100000" kx="0" ky="0" algn="bl" rotWithShape="0" blurRad="127000" dist="38100" dir="5400000">
              <a:srgbClr val="1B2A4A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464808" y="2084832"/>
            <a:ext cx="457200" cy="457200"/>
          </a:xfrm>
          <a:prstGeom prst="ellipse">
            <a:avLst/>
          </a:prstGeom>
          <a:solidFill>
            <a:srgbClr val="EFED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64808" y="20848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4A3AA7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7059168" y="2066544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4213D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Specificity-ordered attribution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6464808" y="2633472"/>
            <a:ext cx="4983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A42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Checks the most specific symptom first: CPU, then memory, then storage. The naive “biggest slowdown” rule blames storage for memory contention.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6464808" y="3401568"/>
            <a:ext cx="4983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3AA7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Cause correct in 86–99.6% of stalled periods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48640" y="4069080"/>
            <a:ext cx="5468112" cy="20574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D9DEE7"/>
            </a:solidFill>
            <a:prstDash val="solid"/>
          </a:ln>
          <a:effectLst>
            <a:outerShdw sx="100000" sy="100000" kx="0" ky="0" algn="bl" rotWithShape="0" blurRad="127000" dist="38100" dir="5400000">
              <a:srgbClr val="1B2A4A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22960" y="4325112"/>
            <a:ext cx="457200" cy="457200"/>
          </a:xfrm>
          <a:prstGeom prst="ellipse">
            <a:avLst/>
          </a:prstGeom>
          <a:solidFill>
            <a:srgbClr val="E8F6EF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22960" y="43251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5925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1417320" y="4306824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4213D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Least-cost, double-verified ladder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822960" y="4873752"/>
            <a:ext cx="4983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A42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Priority first, CPU cap only if needed. Every action is read back from Windows and kept only if the stall really drops.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822960" y="5641848"/>
            <a:ext cx="4983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5925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Without the ladder: 4.8× worse p95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190488" y="4069080"/>
            <a:ext cx="5468112" cy="20574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D9DEE7"/>
            </a:solidFill>
            <a:prstDash val="solid"/>
          </a:ln>
          <a:effectLst>
            <a:outerShdw sx="100000" sy="100000" kx="0" ky="0" algn="bl" rotWithShape="0" blurRad="127000" dist="38100" dir="5400000">
              <a:srgbClr val="1B2A4A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464808" y="4325112"/>
            <a:ext cx="457200" cy="457200"/>
          </a:xfrm>
          <a:prstGeom prst="ellipse">
            <a:avLst/>
          </a:prstGeom>
          <a:solidFill>
            <a:srgbClr val="FFF1EA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464808" y="43251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8590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4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7059168" y="4306824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4213D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Hybrid-core steering</a:t>
            </a:r>
            <a:endParaRPr lang="en-US" sz="1800" dirty="0"/>
          </a:p>
        </p:txBody>
      </p:sp>
      <p:sp>
        <p:nvSpPr>
          <p:cNvPr id="28" name="Text 26"/>
          <p:cNvSpPr txBox="1"/>
          <p:nvPr/>
        </p:nvSpPr>
        <p:spPr>
          <a:xfrm>
            <a:off x="6464808" y="4873752"/>
            <a:ext cx="4983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A42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 P-core/E-core laptops, moves background work onto efficiency cores before throttling it.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6464808" y="5641848"/>
            <a:ext cx="4983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8590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Memory contention: 27% lower p95 than the best static policy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E8590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05 · SYSTEM DESIGN &amp; ARCHITECTURE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10287000" y="347472"/>
            <a:ext cx="1371600" cy="329184"/>
          </a:xfrm>
          <a:prstGeom prst="roundRect">
            <a:avLst>
              <a:gd name="adj" fmla="val 50000"/>
            </a:avLst>
          </a:prstGeom>
          <a:solidFill>
            <a:srgbClr val="F3F6FB"/>
          </a:solidFill>
          <a:ln w="9525">
            <a:solidFill>
              <a:srgbClr val="D9DEE7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287000" y="347472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4213D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Review 2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49808"/>
            <a:ext cx="11064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14213D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 closed control loop that runs every 200 ms, entirely in user mode</a:t>
            </a:r>
            <a:endParaRPr lang="en-US" sz="2800" dirty="0"/>
          </a:p>
        </p:txBody>
      </p:sp>
      <p:pic>
        <p:nvPicPr>
          <p:cNvPr id="6" name="Image 0" descr="C:\Users\Sri vaishnavi\AppData\Local\Temp\claude\C--Users-Sri-vaishnavi-OneDrive-Documents-New-project\d3331c45-cd06-4db3-86d4-dddb1319d0d1\scratchpad\deck\fig_architec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83080"/>
            <a:ext cx="11109960" cy="3253631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5257800"/>
            <a:ext cx="3520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A78D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Sense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3A42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Canary wakes every 40 ms and times scheduling delay, compute, an 8 MiB memory copy and a 4 KiB unbuffered read.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4297680" y="5257800"/>
            <a:ext cx="3520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4A3AA7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Decide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3A42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WSI = share of time lost. Cause = first symptom above 2× idle. Ladder level chosen against a 3% target.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8046720" y="5257800"/>
            <a:ext cx="3520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5925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Act &amp; prove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3A42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Priority, I/O priority, E-core affinity or Job CPU cap via Win32/NT; read back, check the benefit, revert when quiet.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E8590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06 · MODULE IDENTIFICATION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10287000" y="347472"/>
            <a:ext cx="1371600" cy="329184"/>
          </a:xfrm>
          <a:prstGeom prst="roundRect">
            <a:avLst>
              <a:gd name="adj" fmla="val 50000"/>
            </a:avLst>
          </a:prstGeom>
          <a:solidFill>
            <a:srgbClr val="F3F6FB"/>
          </a:solidFill>
          <a:ln w="9525">
            <a:solidFill>
              <a:srgbClr val="D9DEE7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287000" y="347472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4213D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Review 2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49808"/>
            <a:ext cx="11064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14213D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Six modules, each testable on its own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3611880" cy="2011680"/>
          </a:xfrm>
          <a:prstGeom prst="roundRect">
            <a:avLst>
              <a:gd name="adj" fmla="val 5455"/>
            </a:avLst>
          </a:prstGeom>
          <a:solidFill>
            <a:srgbClr val="F3F6FB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205740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A78D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M1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2788920" y="2057400"/>
            <a:ext cx="1143000" cy="329184"/>
          </a:xfrm>
          <a:prstGeom prst="roundRect">
            <a:avLst>
              <a:gd name="adj" fmla="val 50000"/>
            </a:avLst>
          </a:prstGeom>
          <a:solidFill>
            <a:srgbClr val="E8F6E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2788920" y="2057400"/>
            <a:ext cx="1143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5925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✓ Complete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246888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4213D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Canary &amp; probes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285292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probes.py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315468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A42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40 ms canary, foreground probe, CPU / memory / storage workloads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297680" y="1828800"/>
            <a:ext cx="3611880" cy="2011680"/>
          </a:xfrm>
          <a:prstGeom prst="roundRect">
            <a:avLst>
              <a:gd name="adj" fmla="val 5455"/>
            </a:avLst>
          </a:prstGeom>
          <a:solidFill>
            <a:srgbClr val="F3F6F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572000" y="205740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A78D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M2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537960" y="2057400"/>
            <a:ext cx="1143000" cy="329184"/>
          </a:xfrm>
          <a:prstGeom prst="roundRect">
            <a:avLst>
              <a:gd name="adj" fmla="val 50000"/>
            </a:avLst>
          </a:prstGeom>
          <a:solidFill>
            <a:srgbClr val="E8F6EF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537960" y="2057400"/>
            <a:ext cx="1143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5925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✓ Complete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4572000" y="246888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4213D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WSI &amp; attribution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0" y="285292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controller.py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0" y="315468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A42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Stall index and specificity-ordered cause detection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8046720" y="1828800"/>
            <a:ext cx="3611880" cy="2011680"/>
          </a:xfrm>
          <a:prstGeom prst="roundRect">
            <a:avLst>
              <a:gd name="adj" fmla="val 5455"/>
            </a:avLst>
          </a:prstGeom>
          <a:solidFill>
            <a:srgbClr val="F3F6FB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321040" y="205740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A78D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M3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10287000" y="2057400"/>
            <a:ext cx="1143000" cy="329184"/>
          </a:xfrm>
          <a:prstGeom prst="roundRect">
            <a:avLst>
              <a:gd name="adj" fmla="val 50000"/>
            </a:avLst>
          </a:prstGeom>
          <a:solidFill>
            <a:srgbClr val="E8F6E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10287000" y="2057400"/>
            <a:ext cx="1143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5925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✓ Complete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8321040" y="246888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4213D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Control ladder</a:t>
            </a:r>
            <a:endParaRPr lang="en-US" sz="1700" dirty="0"/>
          </a:p>
        </p:txBody>
      </p:sp>
      <p:sp>
        <p:nvSpPr>
          <p:cNvPr id="25" name="Text 23"/>
          <p:cNvSpPr txBox="1"/>
          <p:nvPr/>
        </p:nvSpPr>
        <p:spPr>
          <a:xfrm>
            <a:off x="8321040" y="285292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controller.py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8321040" y="315468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A42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Gating, hint → E-core steer → AIMD cap, benefit check, release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548640" y="4023360"/>
            <a:ext cx="3611880" cy="2011680"/>
          </a:xfrm>
          <a:prstGeom prst="roundRect">
            <a:avLst>
              <a:gd name="adj" fmla="val 5455"/>
            </a:avLst>
          </a:prstGeom>
          <a:solidFill>
            <a:srgbClr val="F3F6FB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822960" y="425196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A78D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M4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2788920" y="4251960"/>
            <a:ext cx="1143000" cy="329184"/>
          </a:xfrm>
          <a:prstGeom prst="roundRect">
            <a:avLst>
              <a:gd name="adj" fmla="val 50000"/>
            </a:avLst>
          </a:prstGeom>
          <a:solidFill>
            <a:srgbClr val="E8F6EF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2788920" y="4251960"/>
            <a:ext cx="1143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5925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✓ Complete</a:t>
            </a:r>
            <a:endParaRPr lang="en-US" sz="1050" dirty="0"/>
          </a:p>
        </p:txBody>
      </p:sp>
      <p:sp>
        <p:nvSpPr>
          <p:cNvPr id="31" name="Text 29"/>
          <p:cNvSpPr txBox="1"/>
          <p:nvPr/>
        </p:nvSpPr>
        <p:spPr>
          <a:xfrm>
            <a:off x="822960" y="466344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4213D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Verified actuator</a:t>
            </a:r>
            <a:endParaRPr lang="en-US" sz="1700" dirty="0"/>
          </a:p>
        </p:txBody>
      </p:sp>
      <p:sp>
        <p:nvSpPr>
          <p:cNvPr id="32" name="Text 30"/>
          <p:cNvSpPr txBox="1"/>
          <p:nvPr/>
        </p:nvSpPr>
        <p:spPr>
          <a:xfrm>
            <a:off x="822960" y="504748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native.py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822960" y="534924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A42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Priority, I/O priority, affinity and Job CPU cap with read-back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4297680" y="4023360"/>
            <a:ext cx="3611880" cy="2011680"/>
          </a:xfrm>
          <a:prstGeom prst="roundRect">
            <a:avLst>
              <a:gd name="adj" fmla="val 5455"/>
            </a:avLst>
          </a:prstGeom>
          <a:solidFill>
            <a:srgbClr val="F3F6FB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4572000" y="425196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A78D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M5</a:t>
            </a:r>
            <a:endParaRPr lang="en-US" sz="1500" dirty="0"/>
          </a:p>
        </p:txBody>
      </p:sp>
      <p:sp>
        <p:nvSpPr>
          <p:cNvPr id="36" name="Shape 34"/>
          <p:cNvSpPr/>
          <p:nvPr/>
        </p:nvSpPr>
        <p:spPr>
          <a:xfrm>
            <a:off x="6537960" y="4251960"/>
            <a:ext cx="1143000" cy="329184"/>
          </a:xfrm>
          <a:prstGeom prst="roundRect">
            <a:avLst>
              <a:gd name="adj" fmla="val 50000"/>
            </a:avLst>
          </a:prstGeom>
          <a:solidFill>
            <a:srgbClr val="E8F6EF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6537960" y="4251960"/>
            <a:ext cx="1143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5925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✓ Complete</a:t>
            </a:r>
            <a:endParaRPr lang="en-US" sz="1050" dirty="0"/>
          </a:p>
        </p:txBody>
      </p:sp>
      <p:sp>
        <p:nvSpPr>
          <p:cNvPr id="38" name="Text 36"/>
          <p:cNvSpPr txBox="1"/>
          <p:nvPr/>
        </p:nvSpPr>
        <p:spPr>
          <a:xfrm>
            <a:off x="4572000" y="466344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4213D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Experiment engine</a:t>
            </a:r>
            <a:endParaRPr lang="en-US" sz="1700" dirty="0"/>
          </a:p>
        </p:txBody>
      </p:sp>
      <p:sp>
        <p:nvSpPr>
          <p:cNvPr id="39" name="Text 37"/>
          <p:cNvSpPr txBox="1"/>
          <p:nvPr/>
        </p:nvSpPr>
        <p:spPr>
          <a:xfrm>
            <a:off x="4572000" y="504748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engine.py · run_study.py</a:t>
            </a:r>
            <a:endParaRPr lang="en-US" sz="1100" dirty="0"/>
          </a:p>
        </p:txBody>
      </p:sp>
      <p:sp>
        <p:nvSpPr>
          <p:cNvPr id="40" name="Text 38"/>
          <p:cNvSpPr txBox="1"/>
          <p:nvPr/>
        </p:nvSpPr>
        <p:spPr>
          <a:xfrm>
            <a:off x="4572000" y="534924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A42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Trials, randomised blocks, background-throughput accounting</a:t>
            </a:r>
            <a:endParaRPr lang="en-US" sz="1250" dirty="0"/>
          </a:p>
        </p:txBody>
      </p:sp>
      <p:sp>
        <p:nvSpPr>
          <p:cNvPr id="41" name="Shape 39"/>
          <p:cNvSpPr/>
          <p:nvPr/>
        </p:nvSpPr>
        <p:spPr>
          <a:xfrm>
            <a:off x="8046720" y="4023360"/>
            <a:ext cx="3611880" cy="2011680"/>
          </a:xfrm>
          <a:prstGeom prst="roundRect">
            <a:avLst>
              <a:gd name="adj" fmla="val 5455"/>
            </a:avLst>
          </a:prstGeom>
          <a:solidFill>
            <a:srgbClr val="F3F6FB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8321040" y="425196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A78D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M6</a:t>
            </a:r>
            <a:endParaRPr lang="en-US" sz="1500" dirty="0"/>
          </a:p>
        </p:txBody>
      </p:sp>
      <p:sp>
        <p:nvSpPr>
          <p:cNvPr id="43" name="Shape 41"/>
          <p:cNvSpPr/>
          <p:nvPr/>
        </p:nvSpPr>
        <p:spPr>
          <a:xfrm>
            <a:off x="10287000" y="4251960"/>
            <a:ext cx="1143000" cy="329184"/>
          </a:xfrm>
          <a:prstGeom prst="roundRect">
            <a:avLst>
              <a:gd name="adj" fmla="val 50000"/>
            </a:avLst>
          </a:prstGeom>
          <a:solidFill>
            <a:srgbClr val="E8F6EF"/>
          </a:solidFill>
          <a:ln/>
        </p:spPr>
      </p:sp>
      <p:sp>
        <p:nvSpPr>
          <p:cNvPr id="44" name="Text 42"/>
          <p:cNvSpPr txBox="1"/>
          <p:nvPr/>
        </p:nvSpPr>
        <p:spPr>
          <a:xfrm>
            <a:off x="10287000" y="4251960"/>
            <a:ext cx="1143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5925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✓ Complete</a:t>
            </a:r>
            <a:endParaRPr lang="en-US" sz="1050" dirty="0"/>
          </a:p>
        </p:txBody>
      </p:sp>
      <p:sp>
        <p:nvSpPr>
          <p:cNvPr id="45" name="Text 43"/>
          <p:cNvSpPr txBox="1"/>
          <p:nvPr/>
        </p:nvSpPr>
        <p:spPr>
          <a:xfrm>
            <a:off x="8321040" y="466344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4213D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Analysis &amp; dashboard</a:t>
            </a:r>
            <a:endParaRPr lang="en-US" sz="1700" dirty="0"/>
          </a:p>
        </p:txBody>
      </p:sp>
      <p:sp>
        <p:nvSpPr>
          <p:cNvPr id="46" name="Text 44"/>
          <p:cNvSpPr txBox="1"/>
          <p:nvPr/>
        </p:nvSpPr>
        <p:spPr>
          <a:xfrm>
            <a:off x="8321040" y="504748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analyze.py · app.py · frontend</a:t>
            </a:r>
            <a:endParaRPr lang="en-US" sz="1100" dirty="0"/>
          </a:p>
        </p:txBody>
      </p:sp>
      <p:sp>
        <p:nvSpPr>
          <p:cNvPr id="47" name="Text 45"/>
          <p:cNvSpPr txBox="1"/>
          <p:nvPr/>
        </p:nvSpPr>
        <p:spPr>
          <a:xfrm>
            <a:off x="8321040" y="534924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A42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Statistics, figures, live web UI and exports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E8590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07 · MODULE COMPLETION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10287000" y="347472"/>
            <a:ext cx="1371600" cy="329184"/>
          </a:xfrm>
          <a:prstGeom prst="roundRect">
            <a:avLst>
              <a:gd name="adj" fmla="val 50000"/>
            </a:avLst>
          </a:prstGeom>
          <a:solidFill>
            <a:srgbClr val="F3F6FB"/>
          </a:solidFill>
          <a:ln w="9525">
            <a:solidFill>
              <a:srgbClr val="D9DEE7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287000" y="347472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4213D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Review 2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49808"/>
            <a:ext cx="11064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14213D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All six modules are implemented, tested and verified on real hardware</a:t>
            </a:r>
            <a:endParaRPr lang="en-US" sz="2800" dirty="0"/>
          </a:p>
        </p:txBody>
      </p:sp>
      <p:pic>
        <p:nvPicPr>
          <p:cNvPr id="6" name="Image 0" descr="C:\Users\Sri vaishnavi\AppData\Local\Temp\claude\C--Users-Sri-vaishnavi-OneDrive-Documents-New-project\d3331c45-cd06-4db3-86d4-dddb1319d0d1\scratchpad\deck\crop_tri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83080"/>
            <a:ext cx="6035040" cy="3884623"/>
          </a:xfrm>
          <a:prstGeom prst="rect">
            <a:avLst/>
          </a:prstGeom>
          <a:effectLst>
            <a:outerShdw sx="100000" sy="100000" kx="0" ky="0" algn="bl" rotWithShape="0" blurRad="127000" dist="38100" dir="5400000">
              <a:srgbClr val="1B2A4A">
                <a:alpha val="18000"/>
              </a:srgbClr>
            </a:outerShdw>
          </a:effectLst>
        </p:spPr>
      </p:pic>
      <p:sp>
        <p:nvSpPr>
          <p:cNvPr id="7" name="Text 4"/>
          <p:cNvSpPr txBox="1"/>
          <p:nvPr/>
        </p:nvSpPr>
        <p:spPr>
          <a:xfrm>
            <a:off x="548640" y="5777431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 trial from the dashboard: memory-bandwidth contention, p95 5.49 ms, 24 / 24 actions verified while AIMD tunes the cap.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6949440" y="1783080"/>
            <a:ext cx="2286000" cy="1645920"/>
          </a:xfrm>
          <a:prstGeom prst="roundRect">
            <a:avLst>
              <a:gd name="adj" fmla="val 6667"/>
            </a:avLst>
          </a:prstGeom>
          <a:solidFill>
            <a:srgbClr val="EAF2FC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132320" y="1783080"/>
            <a:ext cx="1965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2A78D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6 / 6</a:t>
            </a:r>
            <a:endParaRPr lang="en-US" sz="3200" dirty="0"/>
          </a:p>
          <a:p>
            <a:pPr indent="0" marL="0">
              <a:buNone/>
            </a:pPr>
            <a:r>
              <a:rPr lang="en-US" sz="1250" dirty="0">
                <a:solidFill>
                  <a:srgbClr val="3A42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modules complete</a:t>
            </a:r>
            <a:endParaRPr lang="en-US" sz="3200" dirty="0"/>
          </a:p>
        </p:txBody>
      </p:sp>
      <p:sp>
        <p:nvSpPr>
          <p:cNvPr id="10" name="Shape 7"/>
          <p:cNvSpPr/>
          <p:nvPr/>
        </p:nvSpPr>
        <p:spPr>
          <a:xfrm>
            <a:off x="9345168" y="1783080"/>
            <a:ext cx="2286000" cy="1645920"/>
          </a:xfrm>
          <a:prstGeom prst="roundRect">
            <a:avLst>
              <a:gd name="adj" fmla="val 6667"/>
            </a:avLst>
          </a:prstGeom>
          <a:solidFill>
            <a:srgbClr val="EFEDFA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9528048" y="1783080"/>
            <a:ext cx="1965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4A3AA7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25</a:t>
            </a:r>
            <a:endParaRPr lang="en-US" sz="3200" dirty="0"/>
          </a:p>
          <a:p>
            <a:pPr indent="0" marL="0">
              <a:buNone/>
            </a:pPr>
            <a:r>
              <a:rPr lang="en-US" sz="1250" dirty="0">
                <a:solidFill>
                  <a:srgbClr val="3A42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automated tests passing</a:t>
            </a:r>
            <a:endParaRPr lang="en-US" sz="3200" dirty="0"/>
          </a:p>
        </p:txBody>
      </p:sp>
      <p:sp>
        <p:nvSpPr>
          <p:cNvPr id="12" name="Shape 9"/>
          <p:cNvSpPr/>
          <p:nvPr/>
        </p:nvSpPr>
        <p:spPr>
          <a:xfrm>
            <a:off x="6949440" y="3611880"/>
            <a:ext cx="2286000" cy="1645920"/>
          </a:xfrm>
          <a:prstGeom prst="roundRect">
            <a:avLst>
              <a:gd name="adj" fmla="val 6667"/>
            </a:avLst>
          </a:prstGeom>
          <a:solidFill>
            <a:srgbClr val="FFF1EA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7132320" y="3611880"/>
            <a:ext cx="1965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E8590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460</a:t>
            </a:r>
            <a:endParaRPr lang="en-US" sz="3200" dirty="0"/>
          </a:p>
          <a:p>
            <a:pPr indent="0" marL="0">
              <a:buNone/>
            </a:pPr>
            <a:r>
              <a:rPr lang="en-US" sz="1250" dirty="0">
                <a:solidFill>
                  <a:srgbClr val="3A42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trials run, 0 failed</a:t>
            </a:r>
            <a:endParaRPr lang="en-US" sz="3200" dirty="0"/>
          </a:p>
        </p:txBody>
      </p:sp>
      <p:sp>
        <p:nvSpPr>
          <p:cNvPr id="14" name="Shape 11"/>
          <p:cNvSpPr/>
          <p:nvPr/>
        </p:nvSpPr>
        <p:spPr>
          <a:xfrm>
            <a:off x="9345168" y="3611880"/>
            <a:ext cx="2286000" cy="1645920"/>
          </a:xfrm>
          <a:prstGeom prst="roundRect">
            <a:avLst>
              <a:gd name="adj" fmla="val 6667"/>
            </a:avLst>
          </a:prstGeom>
          <a:solidFill>
            <a:srgbClr val="E8F6EF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9528048" y="3611880"/>
            <a:ext cx="1965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5925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1,575 / 1,575</a:t>
            </a:r>
            <a:endParaRPr lang="en-US" sz="2400" dirty="0"/>
          </a:p>
          <a:p>
            <a:pPr indent="0" marL="0">
              <a:buNone/>
            </a:pPr>
            <a:r>
              <a:rPr lang="en-US" sz="1250" dirty="0">
                <a:solidFill>
                  <a:srgbClr val="3A42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actions verified by read-back</a:t>
            </a:r>
            <a:endParaRPr lang="en-US" sz="2400" dirty="0"/>
          </a:p>
        </p:txBody>
      </p:sp>
      <p:sp>
        <p:nvSpPr>
          <p:cNvPr id="16" name="Text 13"/>
          <p:cNvSpPr txBox="1"/>
          <p:nvPr/>
        </p:nvSpPr>
        <p:spPr>
          <a:xfrm>
            <a:off x="6949440" y="5440680"/>
            <a:ext cx="4709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A42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Also complete: live monitor page, CSV / JSON / HTML / PDF exports, emergency stop, and an IEEE-format paper draft.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E8590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08 · RESULTS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10287000" y="347472"/>
            <a:ext cx="1371600" cy="329184"/>
          </a:xfrm>
          <a:prstGeom prst="roundRect">
            <a:avLst>
              <a:gd name="adj" fmla="val 50000"/>
            </a:avLst>
          </a:prstGeom>
          <a:solidFill>
            <a:srgbClr val="F3F6FB"/>
          </a:solidFill>
          <a:ln w="9525">
            <a:solidFill>
              <a:srgbClr val="D9DEE7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287000" y="347472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4213D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Review 2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49808"/>
            <a:ext cx="11064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14213D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 stall index tracks what the user actually feels</a:t>
            </a:r>
            <a:endParaRPr lang="en-US" sz="28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48640" y="1737360"/>
          <a:ext cx="658368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 txBox="1"/>
          <p:nvPr/>
        </p:nvSpPr>
        <p:spPr>
          <a:xfrm>
            <a:off x="7589520" y="1783080"/>
            <a:ext cx="40690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dirty="0">
                <a:solidFill>
                  <a:srgbClr val="2A78D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ρ = 0.96</a:t>
            </a:r>
            <a:endParaRPr lang="en-US" sz="3000" dirty="0"/>
          </a:p>
          <a:p>
            <a:pPr indent="0" marL="0">
              <a:buNone/>
            </a:pPr>
            <a:r>
              <a:rPr lang="en-US" sz="1350" dirty="0">
                <a:solidFill>
                  <a:srgbClr val="3A42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rank correlation between the canary's WSI and the separate app's p95 (50 trials)</a:t>
            </a:r>
            <a:endParaRPr lang="en-US" sz="3000" dirty="0"/>
          </a:p>
        </p:txBody>
      </p:sp>
      <p:sp>
        <p:nvSpPr>
          <p:cNvPr id="8" name="Text 5"/>
          <p:cNvSpPr txBox="1"/>
          <p:nvPr/>
        </p:nvSpPr>
        <p:spPr>
          <a:xfrm>
            <a:off x="7589520" y="3246120"/>
            <a:ext cx="40690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dirty="0">
                <a:solidFill>
                  <a:srgbClr val="4A3AA7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AUC 0.965–1.000</a:t>
            </a:r>
            <a:endParaRPr lang="en-US" sz="3000" dirty="0"/>
          </a:p>
          <a:p>
            <a:pPr indent="0" marL="0">
              <a:buNone/>
            </a:pPr>
            <a:r>
              <a:rPr lang="en-US" sz="1350" dirty="0">
                <a:solidFill>
                  <a:srgbClr val="3A42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detecting interference, with 1.2% false alarms on a quiet PC</a:t>
            </a:r>
            <a:endParaRPr lang="en-US" sz="3000" dirty="0"/>
          </a:p>
        </p:txBody>
      </p:sp>
      <p:sp>
        <p:nvSpPr>
          <p:cNvPr id="9" name="Text 6"/>
          <p:cNvSpPr txBox="1"/>
          <p:nvPr/>
        </p:nvSpPr>
        <p:spPr>
          <a:xfrm>
            <a:off x="7589520" y="4709160"/>
            <a:ext cx="40690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dirty="0">
                <a:solidFill>
                  <a:srgbClr val="15925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92 · 86 · 99.6%</a:t>
            </a:r>
            <a:endParaRPr lang="en-US" sz="3000" dirty="0"/>
          </a:p>
          <a:p>
            <a:pPr indent="0" marL="0">
              <a:buNone/>
            </a:pPr>
            <a:r>
              <a:rPr lang="en-US" sz="1350" dirty="0">
                <a:solidFill>
                  <a:srgbClr val="3A42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cause named correctly for CPU · memory · storage</a:t>
            </a: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E8590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09 · RESULTS &amp; NEXT STEPS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10287000" y="347472"/>
            <a:ext cx="1371600" cy="329184"/>
          </a:xfrm>
          <a:prstGeom prst="roundRect">
            <a:avLst>
              <a:gd name="adj" fmla="val 50000"/>
            </a:avLst>
          </a:prstGeom>
          <a:solidFill>
            <a:srgbClr val="F3F6FB"/>
          </a:solidFill>
          <a:ln w="9525">
            <a:solidFill>
              <a:srgbClr val="D9DEE7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287000" y="347472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4213D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Review 2 → 3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49808"/>
            <a:ext cx="11064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14213D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Up to 94% lower tail latency, and E-core steering beats static priority on memory contention</a:t>
            </a:r>
            <a:endParaRPr lang="en-US" sz="28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48640" y="1828800"/>
          <a:ext cx="6766560" cy="4343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7635240" y="1828800"/>
            <a:ext cx="4023360" cy="1965960"/>
          </a:xfrm>
          <a:prstGeom prst="roundRect">
            <a:avLst>
              <a:gd name="adj" fmla="val 5581"/>
            </a:avLst>
          </a:prstGeom>
          <a:solidFill>
            <a:srgbClr val="F3F6FB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7863840" y="1938528"/>
            <a:ext cx="36576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4213D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What we report honestly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3A42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Static priority is a strong baseline; v2 matches it on CPU and mixed load.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3A42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Under memory contention, v2 without steering over-throttles: 56% of background work kept vs 92% for priority.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3A42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Steering is measured on one hybrid laptop (8 blocks); replication is next.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7635240" y="3977640"/>
            <a:ext cx="4023360" cy="2194560"/>
          </a:xfrm>
          <a:prstGeom prst="roundRect">
            <a:avLst>
              <a:gd name="adj" fmla="val 5000"/>
            </a:avLst>
          </a:prstGeom>
          <a:solidFill>
            <a:srgbClr val="14213D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7863840" y="4087368"/>
            <a:ext cx="3657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Review 3 plan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IEEE-format paper drafted (8 pages)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Replicate on a second Windows laptop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Add a real app (browser frame time)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Submit to an IEEE conference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SmartSwap - Project Reviews 1 &amp; 2</dc:title>
  <dc:subject>PptxGenJS Presentation</dc:subject>
  <dc:creator>SmartSwap team</dc:creator>
  <cp:lastModifiedBy>SmartSwap team</cp:lastModifiedBy>
  <cp:revision>1</cp:revision>
  <dcterms:created xsi:type="dcterms:W3CDTF">2026-10-06T05:58:51Z</dcterms:created>
  <dcterms:modified xsi:type="dcterms:W3CDTF">2026-10-06T05:58:51Z</dcterms:modified>
</cp:coreProperties>
</file>